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6" r:id="rId11"/>
    <p:sldId id="270" r:id="rId12"/>
    <p:sldId id="271" r:id="rId13"/>
    <p:sldId id="272" r:id="rId1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183864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5B3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›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868680" y="5029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200" dirty="0">
                <a:solidFill>
                  <a:srgbClr val="C3BC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STANFORD GSB · MSx WORKSHOP — JUNE 3, 2026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2011680"/>
            <a:ext cx="10515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5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Run a team of AI agents.</a:t>
            </a:r>
            <a:endParaRPr lang="en-US" sz="5800" dirty="0"/>
          </a:p>
          <a:p>
            <a:pPr marL="0" indent="0">
              <a:lnSpc>
                <a:spcPct val="98000"/>
              </a:lnSpc>
              <a:buNone/>
            </a:pPr>
            <a:r>
              <a:rPr lang="en-US" sz="5800" b="1" dirty="0">
                <a:solidFill>
                  <a:srgbClr val="5B3DF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 a chat.</a:t>
            </a:r>
            <a:endParaRPr lang="en-US" sz="5800" dirty="0"/>
          </a:p>
        </p:txBody>
      </p:sp>
      <p:sp>
        <p:nvSpPr>
          <p:cNvPr id="5" name="Text 3"/>
          <p:cNvSpPr/>
          <p:nvPr/>
        </p:nvSpPr>
        <p:spPr>
          <a:xfrm>
            <a:off x="548640" y="429768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C3B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one idea to a live personal site — with a private CRM — in an hour.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9052560" y="502920"/>
            <a:ext cx="411480" cy="411480"/>
          </a:xfrm>
          <a:prstGeom prst="roundRect">
            <a:avLst>
              <a:gd name="adj" fmla="val 13333"/>
            </a:avLst>
          </a:prstGeom>
          <a:solidFill>
            <a:srgbClr val="5B3DF5"/>
          </a:solidFill>
          <a:ln w="12700">
            <a:solidFill>
              <a:srgbClr val="5B3D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9619488" y="502920"/>
            <a:ext cx="411480" cy="411480"/>
          </a:xfrm>
          <a:prstGeom prst="roundRect">
            <a:avLst>
              <a:gd name="adj" fmla="val 13333"/>
            </a:avLst>
          </a:prstGeom>
          <a:solidFill>
            <a:srgbClr val="4A2FD0"/>
          </a:solidFill>
          <a:ln w="12700">
            <a:solidFill>
              <a:srgbClr val="5B3D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10186416" y="502920"/>
            <a:ext cx="411480" cy="411480"/>
          </a:xfrm>
          <a:prstGeom prst="roundRect">
            <a:avLst>
              <a:gd name="adj" fmla="val 13333"/>
            </a:avLst>
          </a:prstGeom>
          <a:solidFill>
            <a:srgbClr val="4A2FD0"/>
          </a:solidFill>
          <a:ln w="12700">
            <a:solidFill>
              <a:srgbClr val="5B3D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10753344" y="502920"/>
            <a:ext cx="411480" cy="411480"/>
          </a:xfrm>
          <a:prstGeom prst="roundRect">
            <a:avLst>
              <a:gd name="adj" fmla="val 13333"/>
            </a:avLst>
          </a:prstGeom>
          <a:solidFill>
            <a:srgbClr val="4A2FD0"/>
          </a:solidFill>
          <a:ln w="12700">
            <a:solidFill>
              <a:srgbClr val="5B3D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48640" y="5943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Fernando Torres — Memori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548640" y="63093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3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github.com/FernandoTN/founder-site-starter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B3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— THE THESIS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400" b="1" dirty="0">
                <a:solidFill>
                  <a:srgbClr val="1715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Leverage isn't a better prompt.</a:t>
            </a:r>
            <a:endParaRPr lang="en-US" sz="3400" dirty="0"/>
          </a:p>
          <a:p>
            <a:pPr marL="0" indent="0">
              <a:buNone/>
            </a:pPr>
            <a:r>
              <a:rPr lang="en-US" sz="3400" b="1" dirty="0">
                <a:solidFill>
                  <a:srgbClr val="1715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It's better orchestration.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2286000"/>
            <a:ext cx="5029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33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giant chat does everything in one place — and gets slower and worse as it fills. A team of focused agents, run off a shared plan, does more at once and does it better.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6400800" y="2286000"/>
            <a:ext cx="2194560" cy="31089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7E4EF"/>
            </a:solidFill>
            <a:prstDash val="solid"/>
          </a:ln>
          <a:effectLst>
            <a:outerShdw blurRad="114300" dist="38100" dir="8100000" algn="bl" rotWithShape="0">
              <a:srgbClr val="17151F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00800" y="24231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B67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ONE CHAT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629400" y="2834640"/>
            <a:ext cx="1737360" cy="256032"/>
          </a:xfrm>
          <a:prstGeom prst="rect">
            <a:avLst/>
          </a:prstGeom>
          <a:solidFill>
            <a:srgbClr val="EFEAFF"/>
          </a:solidFill>
          <a:ln w="12700">
            <a:solidFill>
              <a:srgbClr val="E7E4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6629400" y="3218688"/>
            <a:ext cx="1737360" cy="256032"/>
          </a:xfrm>
          <a:prstGeom prst="rect">
            <a:avLst/>
          </a:prstGeom>
          <a:solidFill>
            <a:srgbClr val="EFEAFF"/>
          </a:solidFill>
          <a:ln w="12700">
            <a:solidFill>
              <a:srgbClr val="E7E4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6629400" y="3602736"/>
            <a:ext cx="1737360" cy="256032"/>
          </a:xfrm>
          <a:prstGeom prst="rect">
            <a:avLst/>
          </a:prstGeom>
          <a:solidFill>
            <a:srgbClr val="EFEAFF"/>
          </a:solidFill>
          <a:ln w="12700">
            <a:solidFill>
              <a:srgbClr val="E7E4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6629400" y="3986784"/>
            <a:ext cx="1737360" cy="256032"/>
          </a:xfrm>
          <a:prstGeom prst="rect">
            <a:avLst/>
          </a:prstGeom>
          <a:solidFill>
            <a:srgbClr val="EFEAFF"/>
          </a:solidFill>
          <a:ln w="12700">
            <a:solidFill>
              <a:srgbClr val="E7E4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6629400" y="4370832"/>
            <a:ext cx="1737360" cy="256032"/>
          </a:xfrm>
          <a:prstGeom prst="rect">
            <a:avLst/>
          </a:prstGeom>
          <a:solidFill>
            <a:srgbClr val="F7E9E4"/>
          </a:solidFill>
          <a:ln w="12700">
            <a:solidFill>
              <a:srgbClr val="C049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6629400" y="4754880"/>
            <a:ext cx="1737360" cy="256032"/>
          </a:xfrm>
          <a:prstGeom prst="rect">
            <a:avLst/>
          </a:prstGeom>
          <a:solidFill>
            <a:srgbClr val="F7E9E4"/>
          </a:solidFill>
          <a:ln w="12700">
            <a:solidFill>
              <a:srgbClr val="C049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400800" y="50749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C04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piled in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73252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5B3D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3400" dirty="0"/>
          </a:p>
        </p:txBody>
      </p:sp>
      <p:sp>
        <p:nvSpPr>
          <p:cNvPr id="15" name="Shape 13"/>
          <p:cNvSpPr/>
          <p:nvPr/>
        </p:nvSpPr>
        <p:spPr>
          <a:xfrm>
            <a:off x="9418320" y="2286000"/>
            <a:ext cx="2194560" cy="502920"/>
          </a:xfrm>
          <a:prstGeom prst="roundRect">
            <a:avLst>
              <a:gd name="adj" fmla="val 10909"/>
            </a:avLst>
          </a:prstGeom>
          <a:solidFill>
            <a:srgbClr val="5B3DF5"/>
          </a:solidFill>
          <a:ln w="12700">
            <a:solidFill>
              <a:srgbClr val="5B3D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9418320" y="228600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orchestrator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9418320" y="3108960"/>
            <a:ext cx="2194560" cy="457200"/>
          </a:xfrm>
          <a:prstGeom prst="roundRect">
            <a:avLst>
              <a:gd name="adj" fmla="val 12000"/>
            </a:avLst>
          </a:prstGeom>
          <a:solidFill>
            <a:srgbClr val="EFEAFF"/>
          </a:solidFill>
          <a:ln w="12700">
            <a:solidFill>
              <a:srgbClr val="5B3D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9418320" y="310896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A2F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 1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9418320" y="3675888"/>
            <a:ext cx="2194560" cy="457200"/>
          </a:xfrm>
          <a:prstGeom prst="roundRect">
            <a:avLst>
              <a:gd name="adj" fmla="val 12000"/>
            </a:avLst>
          </a:prstGeom>
          <a:solidFill>
            <a:srgbClr val="EFEAFF"/>
          </a:solidFill>
          <a:ln w="12700">
            <a:solidFill>
              <a:srgbClr val="5B3D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9418320" y="367588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A2F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 2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9418320" y="4242816"/>
            <a:ext cx="2194560" cy="457200"/>
          </a:xfrm>
          <a:prstGeom prst="roundRect">
            <a:avLst>
              <a:gd name="adj" fmla="val 12000"/>
            </a:avLst>
          </a:prstGeom>
          <a:solidFill>
            <a:srgbClr val="EFEAFF"/>
          </a:solidFill>
          <a:ln w="12700">
            <a:solidFill>
              <a:srgbClr val="5B3D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9418320" y="4242816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A2F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 3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9418320" y="4809744"/>
            <a:ext cx="2194560" cy="457200"/>
          </a:xfrm>
          <a:prstGeom prst="roundRect">
            <a:avLst>
              <a:gd name="adj" fmla="val 12000"/>
            </a:avLst>
          </a:prstGeom>
          <a:solidFill>
            <a:srgbClr val="EFEAFF"/>
          </a:solidFill>
          <a:ln w="12700">
            <a:solidFill>
              <a:srgbClr val="5B3D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9418320" y="4809744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A2F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 4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9418320" y="54406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5B3D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focused, in parallel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67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 a team of AI agents · not a chat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7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B3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— WHAT YOU'LL WATCH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400" b="1" dirty="0">
                <a:solidFill>
                  <a:srgbClr val="1715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 the next ~50 minutes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3520440" cy="21945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7E4EF"/>
            </a:solidFill>
            <a:prstDash val="solid"/>
          </a:ln>
          <a:effectLst>
            <a:outerShdw blurRad="114300" dist="38100" dir="8100000" algn="bl" rotWithShape="0">
              <a:srgbClr val="17151F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48640" y="2240280"/>
            <a:ext cx="3520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rgbClr val="5B3DF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548640" y="329184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71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48640" y="3703320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6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typed in 15 seconds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343400" y="2103120"/>
            <a:ext cx="3520440" cy="21945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7E4EF"/>
            </a:solidFill>
            <a:prstDash val="solid"/>
          </a:ln>
          <a:effectLst>
            <a:outerShdw blurRad="114300" dist="38100" dir="8100000" algn="bl" rotWithShape="0">
              <a:srgbClr val="17151F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343400" y="2240280"/>
            <a:ext cx="3520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rgbClr val="5B3DF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~6</a:t>
            </a:r>
            <a:endParaRPr lang="en-US" sz="6000" dirty="0"/>
          </a:p>
        </p:txBody>
      </p:sp>
      <p:sp>
        <p:nvSpPr>
          <p:cNvPr id="10" name="Text 8"/>
          <p:cNvSpPr/>
          <p:nvPr/>
        </p:nvSpPr>
        <p:spPr>
          <a:xfrm>
            <a:off x="4343400" y="329184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71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4343400" y="3703320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6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+ build, in parallel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138160" y="2103120"/>
            <a:ext cx="3520440" cy="21945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7E4EF"/>
            </a:solidFill>
            <a:prstDash val="solid"/>
          </a:ln>
          <a:effectLst>
            <a:outerShdw blurRad="114300" dist="38100" dir="8100000" algn="bl" rotWithShape="0">
              <a:srgbClr val="17151F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8138160" y="2240280"/>
            <a:ext cx="3520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rgbClr val="5B3DF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6000" dirty="0"/>
          </a:p>
        </p:txBody>
      </p:sp>
      <p:sp>
        <p:nvSpPr>
          <p:cNvPr id="14" name="Text 12"/>
          <p:cNvSpPr/>
          <p:nvPr/>
        </p:nvSpPr>
        <p:spPr>
          <a:xfrm>
            <a:off x="8138160" y="329184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71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URL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8138160" y="3703320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6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site + real database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48640" y="493776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33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the method works for anything — </a:t>
            </a:r>
            <a:r>
              <a:rPr lang="en-US" sz="1800" b="1" dirty="0">
                <a:solidFill>
                  <a:srgbClr val="4A2F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memo, a market model, a campaign — not just code.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67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 a team of AI agents · not a chat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7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B3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— THE METHOD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400" b="1" dirty="0">
                <a:solidFill>
                  <a:srgbClr val="1715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Run AI like a team — five moves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566928" cy="566928"/>
          </a:xfrm>
          <a:prstGeom prst="ellipse">
            <a:avLst/>
          </a:prstGeom>
          <a:solidFill>
            <a:srgbClr val="5B3DF5"/>
          </a:solidFill>
          <a:ln w="12700">
            <a:solidFill>
              <a:srgbClr val="5B3D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48640" y="18288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371600" y="1792224"/>
            <a:ext cx="10058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71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source of truth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157984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the “company” believes lives in versioned docs.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670048"/>
            <a:ext cx="566928" cy="566928"/>
          </a:xfrm>
          <a:prstGeom prst="ellipse">
            <a:avLst/>
          </a:prstGeom>
          <a:solidFill>
            <a:srgbClr val="5B3DF5"/>
          </a:solidFill>
          <a:ln w="12700">
            <a:solidFill>
              <a:srgbClr val="5B3D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548640" y="2670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371600" y="2633472"/>
            <a:ext cx="10058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71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ledger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2999232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TODO.md tracks every task: Now → In Progress → Next → Done.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3511296"/>
            <a:ext cx="566928" cy="566928"/>
          </a:xfrm>
          <a:prstGeom prst="ellipse">
            <a:avLst/>
          </a:prstGeom>
          <a:solidFill>
            <a:srgbClr val="5B3DF5"/>
          </a:solidFill>
          <a:ln w="12700">
            <a:solidFill>
              <a:srgbClr val="5B3D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48640" y="35112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371600" y="3474720"/>
            <a:ext cx="10058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71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focused session per task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384048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agent gets exactly the context it needs — nothing more.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4352544"/>
            <a:ext cx="566928" cy="566928"/>
          </a:xfrm>
          <a:prstGeom prst="ellipse">
            <a:avLst/>
          </a:prstGeom>
          <a:solidFill>
            <a:srgbClr val="5B3DF5"/>
          </a:solidFill>
          <a:ln w="12700">
            <a:solidFill>
              <a:srgbClr val="5B3D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548640" y="435254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1371600" y="4315968"/>
            <a:ext cx="10058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71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 vs. sequential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1371600" y="4681728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Fan out the independent work; sequence what truly depends.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48640" y="5193792"/>
            <a:ext cx="566928" cy="566928"/>
          </a:xfrm>
          <a:prstGeom prst="ellipse">
            <a:avLst/>
          </a:prstGeom>
          <a:solidFill>
            <a:srgbClr val="5B3DF5"/>
          </a:solidFill>
          <a:ln w="12700">
            <a:solidFill>
              <a:srgbClr val="5B3D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548640" y="519379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1371600" y="5157216"/>
            <a:ext cx="10058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71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 from one screen</a:t>
            </a:r>
            <a:endParaRPr lang="en-US" sz="1900" dirty="0"/>
          </a:p>
        </p:txBody>
      </p:sp>
      <p:sp>
        <p:nvSpPr>
          <p:cNvPr id="23" name="Text 21"/>
          <p:cNvSpPr/>
          <p:nvPr/>
        </p:nvSpPr>
        <p:spPr>
          <a:xfrm>
            <a:off x="1371600" y="5522976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every running agent live with claude agents.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67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 a team of AI agents · not a chat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7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B3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— THE LEDGER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400" b="1" dirty="0">
                <a:solidFill>
                  <a:srgbClr val="1715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TODO.md is the spine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96596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6B67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NOW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2606040" cy="0"/>
          </a:xfrm>
          <a:prstGeom prst="line">
            <a:avLst/>
          </a:prstGeom>
          <a:noFill/>
          <a:ln w="19050">
            <a:solidFill>
              <a:srgbClr val="E7E4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48640" y="2468880"/>
            <a:ext cx="2606040" cy="566928"/>
          </a:xfrm>
          <a:prstGeom prst="roundRect">
            <a:avLst>
              <a:gd name="adj" fmla="val 9677"/>
            </a:avLst>
          </a:prstGeom>
          <a:solidFill>
            <a:srgbClr val="5B3DF5"/>
          </a:solidFill>
          <a:ln w="12700">
            <a:solidFill>
              <a:srgbClr val="5B3DF5"/>
            </a:solidFill>
            <a:prstDash val="solid"/>
          </a:ln>
          <a:effectLst>
            <a:outerShdw blurRad="114300" dist="38100" dir="8100000" algn="bl" rotWithShape="0">
              <a:srgbClr val="17151F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58368" y="246888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T-0001 Site launch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337560" y="196596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6B67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 PROGRESS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337560" y="2286000"/>
            <a:ext cx="2606040" cy="0"/>
          </a:xfrm>
          <a:prstGeom prst="line">
            <a:avLst/>
          </a:prstGeom>
          <a:noFill/>
          <a:ln w="19050">
            <a:solidFill>
              <a:srgbClr val="E7E4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3337560" y="2468880"/>
            <a:ext cx="2606040" cy="566928"/>
          </a:xfrm>
          <a:prstGeom prst="roundRect">
            <a:avLst>
              <a:gd name="adj" fmla="val 9677"/>
            </a:avLst>
          </a:prstGeom>
          <a:solidFill>
            <a:srgbClr val="EFEAFF"/>
          </a:solidFill>
          <a:ln w="12700">
            <a:solidFill>
              <a:srgbClr val="EFEAFF"/>
            </a:solidFill>
            <a:prstDash val="solid"/>
          </a:ln>
          <a:effectLst>
            <a:outerShdw blurRad="114300" dist="38100" dir="8100000" algn="bl" rotWithShape="0">
              <a:srgbClr val="17151F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447288" y="246888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4A2F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T-0005 Build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6126480" y="196596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B579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NEXT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126480" y="2286000"/>
            <a:ext cx="2606040" cy="0"/>
          </a:xfrm>
          <a:prstGeom prst="line">
            <a:avLst/>
          </a:prstGeom>
          <a:noFill/>
          <a:ln w="19050">
            <a:solidFill>
              <a:srgbClr val="E7E4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6126480" y="2468880"/>
            <a:ext cx="26060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E7E4EF"/>
            </a:solidFill>
            <a:prstDash val="solid"/>
          </a:ln>
          <a:effectLst>
            <a:outerShdw blurRad="114300" dist="38100" dir="8100000" algn="bl" rotWithShape="0">
              <a:srgbClr val="17151F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236208" y="246888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6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T-0007 Calendar sync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126480" y="3182112"/>
            <a:ext cx="26060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E7E4EF"/>
            </a:solidFill>
            <a:prstDash val="solid"/>
          </a:ln>
          <a:effectLst>
            <a:outerShdw blurRad="114300" dist="38100" dir="8100000" algn="bl" rotWithShape="0">
              <a:srgbClr val="17151F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236208" y="3182112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6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T-0008 Multi-user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6126480" y="3895344"/>
            <a:ext cx="26060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E7E4EF"/>
            </a:solidFill>
            <a:prstDash val="solid"/>
          </a:ln>
          <a:effectLst>
            <a:outerShdw blurRad="114300" dist="38100" dir="8100000" algn="bl" rotWithShape="0">
              <a:srgbClr val="17151F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236208" y="3895344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6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T-0009 Booking email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8915400" y="196596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6B67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DONE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915400" y="2286000"/>
            <a:ext cx="2606040" cy="0"/>
          </a:xfrm>
          <a:prstGeom prst="line">
            <a:avLst/>
          </a:prstGeom>
          <a:noFill/>
          <a:ln w="19050">
            <a:solidFill>
              <a:srgbClr val="E7E4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8915400" y="2468880"/>
            <a:ext cx="2606040" cy="566928"/>
          </a:xfrm>
          <a:prstGeom prst="roundRect">
            <a:avLst>
              <a:gd name="adj" fmla="val 9677"/>
            </a:avLst>
          </a:prstGeom>
          <a:solidFill>
            <a:srgbClr val="E6F4EC"/>
          </a:solidFill>
          <a:ln w="12700">
            <a:solidFill>
              <a:srgbClr val="E6F4EC"/>
            </a:solidFill>
            <a:prstDash val="solid"/>
          </a:ln>
          <a:effectLst>
            <a:outerShdw blurRad="114300" dist="38100" dir="8100000" algn="bl" rotWithShape="0">
              <a:srgbClr val="17151F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9025128" y="246888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F8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T-0002 Research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8915400" y="3182112"/>
            <a:ext cx="2606040" cy="566928"/>
          </a:xfrm>
          <a:prstGeom prst="roundRect">
            <a:avLst>
              <a:gd name="adj" fmla="val 9677"/>
            </a:avLst>
          </a:prstGeom>
          <a:solidFill>
            <a:srgbClr val="E6F4EC"/>
          </a:solidFill>
          <a:ln w="12700">
            <a:solidFill>
              <a:srgbClr val="E6F4EC"/>
            </a:solidFill>
            <a:prstDash val="solid"/>
          </a:ln>
          <a:effectLst>
            <a:outerShdw blurRad="114300" dist="38100" dir="8100000" algn="bl" rotWithShape="0">
              <a:srgbClr val="17151F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9025128" y="3182112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F8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T-0003 Identity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8915400" y="3895344"/>
            <a:ext cx="2606040" cy="566928"/>
          </a:xfrm>
          <a:prstGeom prst="roundRect">
            <a:avLst>
              <a:gd name="adj" fmla="val 9677"/>
            </a:avLst>
          </a:prstGeom>
          <a:solidFill>
            <a:srgbClr val="E6F4EC"/>
          </a:solidFill>
          <a:ln w="12700">
            <a:solidFill>
              <a:srgbClr val="E6F4EC"/>
            </a:solidFill>
            <a:prstDash val="solid"/>
          </a:ln>
          <a:effectLst>
            <a:outerShdw blurRad="114300" dist="38100" dir="8100000" algn="bl" rotWithShape="0">
              <a:srgbClr val="17151F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9025128" y="3895344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F8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T-0004 Copy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548640" y="52120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3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ledger tracks everything — </a:t>
            </a:r>
            <a:r>
              <a:rPr lang="en-US" sz="1600" b="1" dirty="0">
                <a:solidFill>
                  <a:srgbClr val="B579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including what you choose to defer (NEXT).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67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 a team of AI agents · not a chat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7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B3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 — PARALLEL VS. SEQUENTIAL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400" b="1" dirty="0">
                <a:solidFill>
                  <a:srgbClr val="1715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distinction that does the work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205740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71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1005840" y="2496312"/>
            <a:ext cx="1554480" cy="548640"/>
          </a:xfrm>
          <a:prstGeom prst="roundRect">
            <a:avLst>
              <a:gd name="adj" fmla="val 10000"/>
            </a:avLst>
          </a:prstGeom>
          <a:solidFill>
            <a:srgbClr val="EFEAFF"/>
          </a:solidFill>
          <a:ln w="12700">
            <a:solidFill>
              <a:srgbClr val="5B3DF5"/>
            </a:solidFill>
            <a:prstDash val="solid"/>
          </a:ln>
          <a:effectLst>
            <a:outerShdw blurRad="114300" dist="38100" dir="8100000" algn="bl" rotWithShape="0">
              <a:srgbClr val="17151F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1005840" y="3118104"/>
            <a:ext cx="1554480" cy="548640"/>
          </a:xfrm>
          <a:prstGeom prst="roundRect">
            <a:avLst>
              <a:gd name="adj" fmla="val 10000"/>
            </a:avLst>
          </a:prstGeom>
          <a:solidFill>
            <a:srgbClr val="EFEAFF"/>
          </a:solidFill>
          <a:ln w="12700">
            <a:solidFill>
              <a:srgbClr val="5B3DF5"/>
            </a:solidFill>
            <a:prstDash val="solid"/>
          </a:ln>
          <a:effectLst>
            <a:outerShdw blurRad="114300" dist="38100" dir="8100000" algn="bl" rotWithShape="0">
              <a:srgbClr val="17151F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1005840" y="3739896"/>
            <a:ext cx="1554480" cy="548640"/>
          </a:xfrm>
          <a:prstGeom prst="roundRect">
            <a:avLst>
              <a:gd name="adj" fmla="val 10000"/>
            </a:avLst>
          </a:prstGeom>
          <a:solidFill>
            <a:srgbClr val="EFEAFF"/>
          </a:solidFill>
          <a:ln w="12700">
            <a:solidFill>
              <a:srgbClr val="5B3DF5"/>
            </a:solidFill>
            <a:prstDash val="solid"/>
          </a:ln>
          <a:effectLst>
            <a:outerShdw blurRad="114300" dist="38100" dir="8100000" algn="bl" rotWithShape="0">
              <a:srgbClr val="17151F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005840" y="480060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B3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parallel ×3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69748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5B3D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3291840" y="205740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71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291840" y="3108960"/>
            <a:ext cx="1554480" cy="566928"/>
          </a:xfrm>
          <a:prstGeom prst="roundRect">
            <a:avLst>
              <a:gd name="adj" fmla="val 9677"/>
            </a:avLst>
          </a:prstGeom>
          <a:solidFill>
            <a:srgbClr val="5B3DF5"/>
          </a:solidFill>
          <a:ln w="12700">
            <a:solidFill>
              <a:srgbClr val="5B3DF5"/>
            </a:solidFill>
            <a:prstDash val="solid"/>
          </a:ln>
          <a:effectLst>
            <a:outerShdw blurRad="114300" dist="38100" dir="8100000" algn="bl" rotWithShape="0">
              <a:srgbClr val="17151F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291840" y="480060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67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 order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80060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5B3D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5212080" y="205740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71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Items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5212080" y="3108960"/>
            <a:ext cx="1554480" cy="566928"/>
          </a:xfrm>
          <a:prstGeom prst="roundRect">
            <a:avLst>
              <a:gd name="adj" fmla="val 9677"/>
            </a:avLst>
          </a:prstGeom>
          <a:solidFill>
            <a:srgbClr val="5B3DF5"/>
          </a:solidFill>
          <a:ln w="12700">
            <a:solidFill>
              <a:srgbClr val="5B3DF5"/>
            </a:solidFill>
            <a:prstDash val="solid"/>
          </a:ln>
          <a:effectLst>
            <a:outerShdw blurRad="114300" dist="38100" dir="8100000" algn="bl" rotWithShape="0">
              <a:srgbClr val="17151F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5212080" y="480060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67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 order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88086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5B3D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7452360" y="205740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71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7452360" y="2368296"/>
            <a:ext cx="1554480" cy="457200"/>
          </a:xfrm>
          <a:prstGeom prst="roundRect">
            <a:avLst>
              <a:gd name="adj" fmla="val 12000"/>
            </a:avLst>
          </a:prstGeom>
          <a:solidFill>
            <a:srgbClr val="EFEAFF"/>
          </a:solidFill>
          <a:ln w="12700">
            <a:solidFill>
              <a:srgbClr val="5B3DF5"/>
            </a:solidFill>
            <a:prstDash val="solid"/>
          </a:ln>
          <a:effectLst>
            <a:outerShdw blurRad="114300" dist="38100" dir="8100000" algn="bl" rotWithShape="0">
              <a:srgbClr val="17151F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7452360" y="2898648"/>
            <a:ext cx="1554480" cy="457200"/>
          </a:xfrm>
          <a:prstGeom prst="roundRect">
            <a:avLst>
              <a:gd name="adj" fmla="val 12000"/>
            </a:avLst>
          </a:prstGeom>
          <a:solidFill>
            <a:srgbClr val="EFEAFF"/>
          </a:solidFill>
          <a:ln w="12700">
            <a:solidFill>
              <a:srgbClr val="5B3DF5"/>
            </a:solidFill>
            <a:prstDash val="solid"/>
          </a:ln>
          <a:effectLst>
            <a:outerShdw blurRad="114300" dist="38100" dir="8100000" algn="bl" rotWithShape="0">
              <a:srgbClr val="17151F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7452360" y="3429000"/>
            <a:ext cx="1554480" cy="457200"/>
          </a:xfrm>
          <a:prstGeom prst="roundRect">
            <a:avLst>
              <a:gd name="adj" fmla="val 12000"/>
            </a:avLst>
          </a:prstGeom>
          <a:solidFill>
            <a:srgbClr val="EFEAFF"/>
          </a:solidFill>
          <a:ln w="12700">
            <a:solidFill>
              <a:srgbClr val="5B3DF5"/>
            </a:solidFill>
            <a:prstDash val="solid"/>
          </a:ln>
          <a:effectLst>
            <a:outerShdw blurRad="114300" dist="38100" dir="8100000" algn="bl" rotWithShape="0">
              <a:srgbClr val="17151F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7452360" y="3959352"/>
            <a:ext cx="1554480" cy="457200"/>
          </a:xfrm>
          <a:prstGeom prst="roundRect">
            <a:avLst>
              <a:gd name="adj" fmla="val 12000"/>
            </a:avLst>
          </a:prstGeom>
          <a:solidFill>
            <a:srgbClr val="EFEAFF"/>
          </a:solidFill>
          <a:ln w="12700">
            <a:solidFill>
              <a:srgbClr val="5B3DF5"/>
            </a:solidFill>
            <a:prstDash val="solid"/>
          </a:ln>
          <a:effectLst>
            <a:outerShdw blurRad="114300" dist="38100" dir="8100000" algn="bl" rotWithShape="0">
              <a:srgbClr val="17151F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7452360" y="480060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B3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parallel ×4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14400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5B3D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3000" dirty="0"/>
          </a:p>
        </p:txBody>
      </p:sp>
      <p:sp>
        <p:nvSpPr>
          <p:cNvPr id="25" name="Text 23"/>
          <p:cNvSpPr/>
          <p:nvPr/>
        </p:nvSpPr>
        <p:spPr>
          <a:xfrm>
            <a:off x="9738360" y="205740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71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9738360" y="3108960"/>
            <a:ext cx="1554480" cy="566928"/>
          </a:xfrm>
          <a:prstGeom prst="roundRect">
            <a:avLst>
              <a:gd name="adj" fmla="val 9677"/>
            </a:avLst>
          </a:prstGeom>
          <a:solidFill>
            <a:srgbClr val="5B3DF5"/>
          </a:solidFill>
          <a:ln w="12700">
            <a:solidFill>
              <a:srgbClr val="5B3DF5"/>
            </a:solidFill>
            <a:prstDash val="solid"/>
          </a:ln>
          <a:effectLst>
            <a:outerShdw blurRad="114300" dist="38100" dir="8100000" algn="bl" rotWithShape="0">
              <a:srgbClr val="17151F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9738360" y="480060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67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 order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48640" y="55778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4A2F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 where independent</a:t>
            </a:r>
            <a:r>
              <a:rPr lang="en-US" sz="1700" dirty="0">
                <a:solidFill>
                  <a:srgbClr val="33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sequential where one step needs the last one's output.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67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 a team of AI agents · not a chat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7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B3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 — FOUR SURFACES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400" b="1" dirty="0">
                <a:solidFill>
                  <a:srgbClr val="1715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Four ways to run agents at once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53492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7E4EF"/>
            </a:solidFill>
            <a:prstDash val="solid"/>
          </a:ln>
          <a:effectLst>
            <a:outerShdw blurRad="114300" dist="38100" dir="8100000" algn="bl" rotWithShape="0">
              <a:srgbClr val="17151F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82296" cy="1783080"/>
          </a:xfrm>
          <a:prstGeom prst="rect">
            <a:avLst/>
          </a:prstGeom>
          <a:solidFill>
            <a:srgbClr val="5B3D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22960" y="210312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71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Sub-agents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822960" y="2523744"/>
            <a:ext cx="4800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6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Delegated workers inside one session — own context, return a summary.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3246120"/>
            <a:ext cx="4800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4A2F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/agents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172200" y="1920240"/>
            <a:ext cx="53492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7E4EF"/>
            </a:solidFill>
            <a:prstDash val="solid"/>
          </a:ln>
          <a:effectLst>
            <a:outerShdw blurRad="114300" dist="38100" dir="8100000" algn="bl" rotWithShape="0">
              <a:srgbClr val="17151F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6172200" y="1920240"/>
            <a:ext cx="82296" cy="1783080"/>
          </a:xfrm>
          <a:prstGeom prst="rect">
            <a:avLst/>
          </a:prstGeom>
          <a:solidFill>
            <a:srgbClr val="5B3D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446520" y="210312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71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agents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6446520" y="2523744"/>
            <a:ext cx="4800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6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full sessions running at once; watch them all on one board.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446520" y="3246120"/>
            <a:ext cx="4800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4A2F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 agents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3931920"/>
            <a:ext cx="53492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7E4EF"/>
            </a:solidFill>
            <a:prstDash val="solid"/>
          </a:ln>
          <a:effectLst>
            <a:outerShdw blurRad="114300" dist="38100" dir="8100000" algn="bl" rotWithShape="0">
              <a:srgbClr val="17151F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548640" y="3931920"/>
            <a:ext cx="82296" cy="1783080"/>
          </a:xfrm>
          <a:prstGeom prst="rect">
            <a:avLst/>
          </a:prstGeom>
          <a:solidFill>
            <a:srgbClr val="5B3D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822960" y="411480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71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teams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822960" y="4535424"/>
            <a:ext cx="4800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6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Sessions that message each other and share a task list. (Experimental.)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22960" y="5257800"/>
            <a:ext cx="4800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4A2F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team mode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172200" y="3931920"/>
            <a:ext cx="53492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7E4EF"/>
            </a:solidFill>
            <a:prstDash val="solid"/>
          </a:ln>
          <a:effectLst>
            <a:outerShdw blurRad="114300" dist="38100" dir="8100000" algn="bl" rotWithShape="0">
              <a:srgbClr val="17151F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6172200" y="3931920"/>
            <a:ext cx="82296" cy="1783080"/>
          </a:xfrm>
          <a:prstGeom prst="rect">
            <a:avLst/>
          </a:prstGeom>
          <a:solidFill>
            <a:srgbClr val="5B3D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6446520" y="411480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71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Worktrees</a:t>
            </a:r>
            <a:endParaRPr lang="en-US" sz="1900" dirty="0"/>
          </a:p>
        </p:txBody>
      </p:sp>
      <p:sp>
        <p:nvSpPr>
          <p:cNvPr id="22" name="Text 20"/>
          <p:cNvSpPr/>
          <p:nvPr/>
        </p:nvSpPr>
        <p:spPr>
          <a:xfrm>
            <a:off x="6446520" y="4535424"/>
            <a:ext cx="4800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6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Isolated git checkouts so parallel writers never collide.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446520" y="5257800"/>
            <a:ext cx="4800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4A2F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 -w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67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 a team of AI agents · not a chat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7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B3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 — CONTEXT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400" b="1" dirty="0">
                <a:solidFill>
                  <a:srgbClr val="1715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Context is the whole game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947672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71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giant chat — everything piled in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2331720"/>
            <a:ext cx="8686800" cy="457200"/>
          </a:xfrm>
          <a:prstGeom prst="roundRect">
            <a:avLst>
              <a:gd name="adj" fmla="val 12000"/>
            </a:avLst>
          </a:prstGeom>
          <a:solidFill>
            <a:srgbClr val="F0EEF6"/>
          </a:solidFill>
          <a:ln w="12700">
            <a:solidFill>
              <a:srgbClr val="E7E4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48640" y="2331720"/>
            <a:ext cx="7991856" cy="457200"/>
          </a:xfrm>
          <a:prstGeom prst="roundRect">
            <a:avLst>
              <a:gd name="adj" fmla="val 12000"/>
            </a:avLst>
          </a:prstGeom>
          <a:solidFill>
            <a:srgbClr val="C0492E"/>
          </a:solidFill>
          <a:ln w="12700">
            <a:solidFill>
              <a:srgbClr val="C049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9464040" y="233172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C04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 · costly · worse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48640" y="3319272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71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Focused session — only what this step needs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548640" y="3703320"/>
            <a:ext cx="8686800" cy="457200"/>
          </a:xfrm>
          <a:prstGeom prst="roundRect">
            <a:avLst>
              <a:gd name="adj" fmla="val 12000"/>
            </a:avLst>
          </a:prstGeom>
          <a:solidFill>
            <a:srgbClr val="F0EEF6"/>
          </a:solidFill>
          <a:ln w="12700">
            <a:solidFill>
              <a:srgbClr val="E7E4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548640" y="3703320"/>
            <a:ext cx="2432304" cy="457200"/>
          </a:xfrm>
          <a:prstGeom prst="roundRect">
            <a:avLst>
              <a:gd name="adj" fmla="val 12000"/>
            </a:avLst>
          </a:prstGeom>
          <a:solidFill>
            <a:srgbClr val="1F8A55"/>
          </a:solidFill>
          <a:ln w="12700">
            <a:solidFill>
              <a:srgbClr val="1F8A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9464040" y="370332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F8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· cheap · better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8640" y="493776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4A2F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the right context at the right step. </a:t>
            </a:r>
            <a:r>
              <a:rPr lang="en-US" sz="1700" dirty="0">
                <a:solidFill>
                  <a:srgbClr val="33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lean session isn't just cheaper — it produces better work, because the model isn't wading through clutter every turn.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67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 a team of AI agents · not a chat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7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B3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 — PICK YOUR COCKPIT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400" b="1" dirty="0">
                <a:solidFill>
                  <a:srgbClr val="1715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Same method, different cockpit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3611880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E7E4EF"/>
            </a:solidFill>
            <a:prstDash val="solid"/>
          </a:ln>
          <a:effectLst>
            <a:outerShdw blurRad="114300" dist="38100" dir="8100000" algn="bl" rotWithShape="0">
              <a:srgbClr val="17151F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3611880" cy="640080"/>
          </a:xfrm>
          <a:prstGeom prst="rect">
            <a:avLst/>
          </a:prstGeom>
          <a:solidFill>
            <a:srgbClr val="EFEA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71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app · Cowork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77240" y="2880360"/>
            <a:ext cx="3154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33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setup, approachable. A fresh chat per task gets you most of the way.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325112" y="2011680"/>
            <a:ext cx="3611880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E7E4EF"/>
            </a:solidFill>
            <a:prstDash val="solid"/>
          </a:ln>
          <a:effectLst>
            <a:outerShdw blurRad="114300" dist="38100" dir="8100000" algn="bl" rotWithShape="0">
              <a:srgbClr val="17151F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325112" y="2011680"/>
            <a:ext cx="3611880" cy="640080"/>
          </a:xfrm>
          <a:prstGeom prst="rect">
            <a:avLst/>
          </a:prstGeom>
          <a:solidFill>
            <a:srgbClr val="EFEA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507992" y="2011680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71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 Codex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553712" y="2880360"/>
            <a:ext cx="3154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33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Another capable agent CLI. The principles port directly.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101584" y="2011680"/>
            <a:ext cx="3611880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5B3DF5"/>
            </a:solidFill>
            <a:prstDash val="solid"/>
          </a:ln>
          <a:effectLst>
            <a:outerShdw blurRad="114300" dist="38100" dir="8100000" algn="bl" rotWithShape="0">
              <a:srgbClr val="17151F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8101584" y="2011680"/>
            <a:ext cx="3611880" cy="640080"/>
          </a:xfrm>
          <a:prstGeom prst="rect">
            <a:avLst/>
          </a:prstGeom>
          <a:solidFill>
            <a:srgbClr val="5B3D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8284464" y="2011680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(terminal)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330184" y="2880360"/>
            <a:ext cx="3154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33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dials: status line, custom commands, parallel agents, worktrees.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48640" y="52578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i="1" dirty="0">
                <a:solidFill>
                  <a:srgbClr val="4A2F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what fits you — don't let setup be the reason you never start.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67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 a team of AI agents · not a chat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7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B3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LIVE — TO THE TERMINAL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command kicks it off:  /orchestrate T-0001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005840" y="3657600"/>
            <a:ext cx="10149840" cy="0"/>
          </a:xfrm>
          <a:prstGeom prst="line">
            <a:avLst/>
          </a:prstGeom>
          <a:noFill/>
          <a:ln w="25400">
            <a:solidFill>
              <a:srgbClr val="4A2F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04088" y="3355848"/>
            <a:ext cx="603504" cy="603504"/>
          </a:xfrm>
          <a:prstGeom prst="ellipse">
            <a:avLst/>
          </a:prstGeom>
          <a:solidFill>
            <a:srgbClr val="5B3DF5"/>
          </a:solidFill>
          <a:ln w="25400">
            <a:solidFill>
              <a:srgbClr val="5B3D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04088" y="335584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91440" y="41148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" y="44348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B3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parallel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734056" y="3355848"/>
            <a:ext cx="603504" cy="603504"/>
          </a:xfrm>
          <a:prstGeom prst="ellipse">
            <a:avLst/>
          </a:prstGeom>
          <a:solidFill>
            <a:srgbClr val="17151F"/>
          </a:solidFill>
          <a:ln w="25400">
            <a:solidFill>
              <a:srgbClr val="5B3D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2734056" y="335584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2121408" y="41148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2121408" y="44348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3BC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 order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64024" y="3355848"/>
            <a:ext cx="603504" cy="603504"/>
          </a:xfrm>
          <a:prstGeom prst="ellipse">
            <a:avLst/>
          </a:prstGeom>
          <a:solidFill>
            <a:srgbClr val="17151F"/>
          </a:solidFill>
          <a:ln w="25400">
            <a:solidFill>
              <a:srgbClr val="5B3D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764024" y="335584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4151376" y="41148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151376" y="44348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3BC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 order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793992" y="3355848"/>
            <a:ext cx="603504" cy="603504"/>
          </a:xfrm>
          <a:prstGeom prst="ellipse">
            <a:avLst/>
          </a:prstGeom>
          <a:solidFill>
            <a:srgbClr val="5B3DF5"/>
          </a:solidFill>
          <a:ln w="25400">
            <a:solidFill>
              <a:srgbClr val="5B3D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6793992" y="335584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6181344" y="41148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181344" y="44348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B3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parallel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8823960" y="3355848"/>
            <a:ext cx="603504" cy="603504"/>
          </a:xfrm>
          <a:prstGeom prst="ellipse">
            <a:avLst/>
          </a:prstGeom>
          <a:solidFill>
            <a:srgbClr val="17151F"/>
          </a:solidFill>
          <a:ln w="25400">
            <a:solidFill>
              <a:srgbClr val="5B3D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8823960" y="335584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8211312" y="41148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8211312" y="44348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3BC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 order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0853928" y="3355848"/>
            <a:ext cx="603504" cy="603504"/>
          </a:xfrm>
          <a:prstGeom prst="ellipse">
            <a:avLst/>
          </a:prstGeom>
          <a:solidFill>
            <a:srgbClr val="17151F"/>
          </a:solidFill>
          <a:ln w="25400">
            <a:solidFill>
              <a:srgbClr val="5B3D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10853928" y="335584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10241280" y="41148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Iterate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10241280" y="44348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3BC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 order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4864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i="1" dirty="0">
                <a:solidFill>
                  <a:srgbClr val="C3B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the ledger move. Watch the agents work. The terminal is the show now.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B3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TAKEAWAYS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Five moves you can steal on Monday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205740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5B3DF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280160" y="2057400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the truth in docs — one source everything traces to.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548640" y="2807208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5B3DF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1280160" y="2807208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a ledger — Now / In Progress / Next / Done.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548640" y="355701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5B3DF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1280160" y="3557016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task, one focused context.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48640" y="4306824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5B3DF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1280160" y="4306824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Parallelize the independent; sequence the dependent.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48640" y="5056632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5B3DF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1280160" y="50566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 what NOT to automate.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48640" y="5943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C3B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of this is about code. It's about how you direct the work.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B3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 — TAKE IT HOME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400" b="1" dirty="0">
                <a:solidFill>
                  <a:srgbClr val="1715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Clone it. Point it at yourself.</a:t>
            </a:r>
            <a:endParaRPr lang="en-US" sz="3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194560"/>
            <a:ext cx="2468880" cy="24688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383280" y="2468880"/>
            <a:ext cx="8229600" cy="640080"/>
          </a:xfrm>
          <a:prstGeom prst="roundRect">
            <a:avLst>
              <a:gd name="adj" fmla="val 11429"/>
            </a:avLst>
          </a:prstGeom>
          <a:solidFill>
            <a:srgbClr val="EFEAFF"/>
          </a:solidFill>
          <a:ln w="12700">
            <a:solidFill>
              <a:srgbClr val="5B3D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3566160" y="246888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4A2F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github.com/FernandoTN/founder-site-starter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3383280" y="338328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71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Inside: </a:t>
            </a:r>
            <a:r>
              <a:rPr lang="en-US" sz="1600" dirty="0">
                <a:solidFill>
                  <a:srgbClr val="33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ledger, the run-sheet, the command cheat-sheet, the deploy steps, and the whole Next.js + database app — ready to fork.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548640" y="512064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4A2F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terminal? </a:t>
            </a:r>
            <a:r>
              <a:rPr lang="en-US" sz="1500" dirty="0">
                <a:solidFill>
                  <a:srgbClr val="33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Claude app — a fresh chat per task.    </a:t>
            </a:r>
            <a:r>
              <a:rPr lang="en-US" sz="1500" b="1" dirty="0">
                <a:solidFill>
                  <a:srgbClr val="4A2F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Comfortable in one? </a:t>
            </a:r>
            <a:r>
              <a:rPr lang="en-US" sz="1500" dirty="0">
                <a:solidFill>
                  <a:srgbClr val="33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it in Claude Code.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67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 a team of AI agents · not a chat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7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411480" cy="411480"/>
          </a:xfrm>
          <a:prstGeom prst="roundRect">
            <a:avLst>
              <a:gd name="adj" fmla="val 13333"/>
            </a:avLst>
          </a:prstGeom>
          <a:solidFill>
            <a:srgbClr val="5B3DF5"/>
          </a:solidFill>
          <a:ln w="12700">
            <a:solidFill>
              <a:srgbClr val="5B3D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115568" y="548640"/>
            <a:ext cx="411480" cy="411480"/>
          </a:xfrm>
          <a:prstGeom prst="roundRect">
            <a:avLst>
              <a:gd name="adj" fmla="val 13333"/>
            </a:avLst>
          </a:prstGeom>
          <a:solidFill>
            <a:srgbClr val="4A2FD0"/>
          </a:solidFill>
          <a:ln w="12700">
            <a:solidFill>
              <a:srgbClr val="5B3D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1682496" y="548640"/>
            <a:ext cx="411480" cy="411480"/>
          </a:xfrm>
          <a:prstGeom prst="roundRect">
            <a:avLst>
              <a:gd name="adj" fmla="val 13333"/>
            </a:avLst>
          </a:prstGeom>
          <a:solidFill>
            <a:srgbClr val="4A2FD0"/>
          </a:solidFill>
          <a:ln w="12700">
            <a:solidFill>
              <a:srgbClr val="5B3D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249424" y="548640"/>
            <a:ext cx="411480" cy="411480"/>
          </a:xfrm>
          <a:prstGeom prst="roundRect">
            <a:avLst>
              <a:gd name="adj" fmla="val 13333"/>
            </a:avLst>
          </a:prstGeom>
          <a:solidFill>
            <a:srgbClr val="4A2FD0"/>
          </a:solidFill>
          <a:ln w="12700">
            <a:solidFill>
              <a:srgbClr val="5B3D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48640" y="219456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you.</a:t>
            </a:r>
            <a:endParaRPr lang="en-US" sz="5600" dirty="0"/>
          </a:p>
        </p:txBody>
      </p:sp>
      <p:sp>
        <p:nvSpPr>
          <p:cNvPr id="7" name="Text 5"/>
          <p:cNvSpPr/>
          <p:nvPr/>
        </p:nvSpPr>
        <p:spPr>
          <a:xfrm>
            <a:off x="548640" y="356616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C3B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— and then, fittingly: </a:t>
            </a:r>
            <a:r>
              <a:rPr lang="en-US" sz="2200" b="1" dirty="0">
                <a:solidFill>
                  <a:srgbClr val="5B3D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 time with me.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548640" y="57607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Fernando Torres — Founder &amp; CEO, Memori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48640" y="61264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3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github.com/FernandoTN/founder-site-starter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930</Words>
  <Application>Microsoft Macintosh PowerPoint</Application>
  <PresentationFormat>Widescreen</PresentationFormat>
  <Paragraphs>185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Arial</vt:lpstr>
      <vt:lpstr>Calibri</vt:lpstr>
      <vt:lpstr>Consolas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Run a team of AI agents — Stanford workshop</dc:title>
  <dc:subject>PptxGenJS Presentation</dc:subject>
  <dc:creator>Fernando Torres</dc:creator>
  <cp:lastModifiedBy>Fernando Torres Navarrete</cp:lastModifiedBy>
  <cp:revision>3</cp:revision>
  <dcterms:created xsi:type="dcterms:W3CDTF">2026-06-03T03:27:10Z</dcterms:created>
  <dcterms:modified xsi:type="dcterms:W3CDTF">2026-06-03T03:36:21Z</dcterms:modified>
</cp:coreProperties>
</file>