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3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3BC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STANFORD GSB · MSx WORKSHOP — JUNE 3,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a team of AI agents.</a:t>
            </a:r>
            <a:endParaRPr lang="en-US" sz="5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800" b="1" dirty="0">
                <a:solidFill>
                  <a:srgbClr val="5B3D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chat.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3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one-line idea to finished work — a team of agents on a single source of truth.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052560" y="5029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5B3DF5"/>
          </a:solidFill>
          <a:ln w="12700">
            <a:solidFill>
              <a:srgbClr val="5B3D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19488" y="5029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4A2FD0"/>
          </a:solidFill>
          <a:ln w="12700">
            <a:solidFill>
              <a:srgbClr val="5B3D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86416" y="5029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4A2FD0"/>
          </a:solidFill>
          <a:ln w="12700">
            <a:solidFill>
              <a:srgbClr val="5B3D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53344" y="5029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4A2FD0"/>
          </a:solidFill>
          <a:ln w="12700">
            <a:solidFill>
              <a:srgbClr val="5B3D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Torres — Memori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309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3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github.com/FernandoTN/founder-site-starter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3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— THE 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71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Leverage isn't a better prompt.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71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better orchestration.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33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giant chat does everything in one place — and gets slower and worse as it fills. A team of focused agents, run off a shared plan, does more at once and does it better.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0" y="2286000"/>
            <a:ext cx="2194560" cy="31089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7E4EF"/>
            </a:solidFill>
            <a:prstDash val="solid"/>
          </a:ln>
          <a:effectLst>
            <a:outerShdw sx="100000" sy="100000" kx="0" ky="0" algn="bl" rotWithShape="0" blurRad="114300" dist="38100" dir="8100000">
              <a:srgbClr val="17151F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CHAT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629400" y="2834640"/>
            <a:ext cx="1737360" cy="256032"/>
          </a:xfrm>
          <a:prstGeom prst="rect">
            <a:avLst/>
          </a:prstGeom>
          <a:solidFill>
            <a:srgbClr val="EFEAFF"/>
          </a:solidFill>
          <a:ln w="12700">
            <a:solidFill>
              <a:srgbClr val="E7E4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29400" y="3218688"/>
            <a:ext cx="1737360" cy="256032"/>
          </a:xfrm>
          <a:prstGeom prst="rect">
            <a:avLst/>
          </a:prstGeom>
          <a:solidFill>
            <a:srgbClr val="EFEAFF"/>
          </a:solidFill>
          <a:ln w="12700">
            <a:solidFill>
              <a:srgbClr val="E7E4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0" y="3602736"/>
            <a:ext cx="1737360" cy="256032"/>
          </a:xfrm>
          <a:prstGeom prst="rect">
            <a:avLst/>
          </a:prstGeom>
          <a:solidFill>
            <a:srgbClr val="EFEAFF"/>
          </a:solidFill>
          <a:ln w="12700">
            <a:solidFill>
              <a:srgbClr val="E7E4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3986784"/>
            <a:ext cx="1737360" cy="256032"/>
          </a:xfrm>
          <a:prstGeom prst="rect">
            <a:avLst/>
          </a:prstGeom>
          <a:solidFill>
            <a:srgbClr val="EFEAFF"/>
          </a:solidFill>
          <a:ln w="12700">
            <a:solidFill>
              <a:srgbClr val="E7E4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4370832"/>
            <a:ext cx="1737360" cy="256032"/>
          </a:xfrm>
          <a:prstGeom prst="rect">
            <a:avLst/>
          </a:prstGeom>
          <a:solidFill>
            <a:srgbClr val="F7E9E4"/>
          </a:solidFill>
          <a:ln w="12700">
            <a:solidFill>
              <a:srgbClr val="C049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29400" y="4754880"/>
            <a:ext cx="1737360" cy="256032"/>
          </a:xfrm>
          <a:prstGeom prst="rect">
            <a:avLst/>
          </a:prstGeom>
          <a:solidFill>
            <a:srgbClr val="F7E9E4"/>
          </a:solidFill>
          <a:ln w="12700">
            <a:solidFill>
              <a:srgbClr val="C049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5074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04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piled 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7325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9418320" y="228600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5B3DF5"/>
          </a:solidFill>
          <a:ln w="12700">
            <a:solidFill>
              <a:srgbClr val="5B3D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18320" y="310896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EFEAFF"/>
          </a:solidFill>
          <a:ln w="12700">
            <a:solidFill>
              <a:srgbClr val="5B3D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2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18320" y="3675888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EFEAFF"/>
          </a:solidFill>
          <a:ln w="12700">
            <a:solidFill>
              <a:srgbClr val="5B3D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0" y="36758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2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418320" y="4242816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EFEAFF"/>
          </a:solidFill>
          <a:ln w="12700">
            <a:solidFill>
              <a:srgbClr val="5B3D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0" y="42428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2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418320" y="4809744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EFEAFF"/>
          </a:solidFill>
          <a:ln w="12700">
            <a:solidFill>
              <a:srgbClr val="5B3D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0" y="48097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2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418320" y="5440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focused, in parallel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 team of AI agents · not a chat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3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— WHAT YOU'LL WATCH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71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next ~50 minutes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7E4EF"/>
            </a:solidFill>
            <a:prstDash val="solid"/>
          </a:ln>
          <a:effectLst>
            <a:outerShdw sx="100000" sy="100000" kx="0" ky="0" algn="bl" rotWithShape="0" blurRad="114300" dist="38100" dir="8100000">
              <a:srgbClr val="17151F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2402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5B3D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spec, in minutes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1031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7E4EF"/>
            </a:solidFill>
            <a:prstDash val="solid"/>
          </a:ln>
          <a:effectLst>
            <a:outerShdw sx="100000" sy="100000" kx="0" ky="0" algn="bl" rotWithShape="0" blurRad="114300" dist="38100" dir="8100000">
              <a:srgbClr val="17151F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43400" y="22402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5B3D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343400" y="32918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43400" y="37033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+ build, in parallel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21031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7E4EF"/>
            </a:solidFill>
            <a:prstDash val="solid"/>
          </a:ln>
          <a:effectLst>
            <a:outerShdw sx="100000" sy="100000" kx="0" ky="0" algn="bl" rotWithShape="0" blurRad="114300" dist="38100" dir="8100000">
              <a:srgbClr val="17151F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38160" y="22402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5B3D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138160" y="32918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138160" y="37033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driven to done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937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method works for anything — </a:t>
            </a:r>
            <a:pPr algn="ctr" indent="0" marL="0">
              <a:buNone/>
            </a:pPr>
            <a:r>
              <a:rPr lang="en-US" sz="1800" b="1" dirty="0">
                <a:solidFill>
                  <a:srgbClr val="4A2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memo, a market model, a campaign — not just code.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 team of AI agents · not a chat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3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— THE 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71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AI like a team — five moves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5B3DF5"/>
          </a:solidFill>
          <a:ln w="12700">
            <a:solidFill>
              <a:srgbClr val="5B3D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79222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215798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“company” believes lives in versioned docs.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566928" cy="566928"/>
          </a:xfrm>
          <a:prstGeom prst="ellipse">
            <a:avLst/>
          </a:prstGeom>
          <a:solidFill>
            <a:srgbClr val="5B3DF5"/>
          </a:solidFill>
          <a:ln w="12700">
            <a:solidFill>
              <a:srgbClr val="5B3D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70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63347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ledger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371600" y="299923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TODO.md tracks every task: Now → In Progress → Next → Done.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566928" cy="566928"/>
          </a:xfrm>
          <a:prstGeom prst="ellipse">
            <a:avLst/>
          </a:prstGeom>
          <a:solidFill>
            <a:srgbClr val="5B3DF5"/>
          </a:solidFill>
          <a:ln w="12700">
            <a:solidFill>
              <a:srgbClr val="5B3D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11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4747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focused session per task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371600" y="3840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gets exactly the context it needs — nothing more.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352544"/>
            <a:ext cx="566928" cy="566928"/>
          </a:xfrm>
          <a:prstGeom prst="ellipse">
            <a:avLst/>
          </a:prstGeom>
          <a:solidFill>
            <a:srgbClr val="5B3DF5"/>
          </a:solidFill>
          <a:ln w="12700">
            <a:solidFill>
              <a:srgbClr val="5B3D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3525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43159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vs. sequential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71600" y="46817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out the independent work; sequence what truly depends.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193792"/>
            <a:ext cx="566928" cy="566928"/>
          </a:xfrm>
          <a:prstGeom prst="ellipse">
            <a:avLst/>
          </a:prstGeom>
          <a:solidFill>
            <a:srgbClr val="5B3DF5"/>
          </a:solidFill>
          <a:ln w="12700">
            <a:solidFill>
              <a:srgbClr val="5B3D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193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71600" y="5157216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from one screen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371600" y="552297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every running agent live with claude agents.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 team of AI agents · not a chat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3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— THE LEDGER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71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TODO.md is the spine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06040" cy="0"/>
          </a:xfrm>
          <a:prstGeom prst="line">
            <a:avLst/>
          </a:prstGeom>
          <a:noFill/>
          <a:ln w="19050">
            <a:solidFill>
              <a:srgbClr val="E7E4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468880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5B3DF5"/>
          </a:solidFill>
          <a:ln w="12700">
            <a:solidFill>
              <a:srgbClr val="5B3DF5"/>
            </a:solidFill>
            <a:prstDash val="solid"/>
          </a:ln>
          <a:effectLst>
            <a:outerShdw sx="100000" sy="100000" kx="0" ky="0" algn="bl" rotWithShape="0" blurRad="114300" dist="38100" dir="8100000">
              <a:srgbClr val="17151F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24688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T-0001 First task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337560" y="19659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2286000"/>
            <a:ext cx="2606040" cy="0"/>
          </a:xfrm>
          <a:prstGeom prst="line">
            <a:avLst/>
          </a:prstGeom>
          <a:noFill/>
          <a:ln w="19050">
            <a:solidFill>
              <a:srgbClr val="E7E4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2468880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EFEAFF"/>
          </a:solidFill>
          <a:ln w="12700">
            <a:solidFill>
              <a:srgbClr val="EFEAFF"/>
            </a:solidFill>
            <a:prstDash val="solid"/>
          </a:ln>
          <a:effectLst>
            <a:outerShdw sx="100000" sy="100000" kx="0" ky="0" algn="bl" rotWithShape="0" blurRad="114300" dist="38100" dir="8100000">
              <a:srgbClr val="17151F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47288" y="24688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2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T-0005 Build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26480" y="19659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579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286000"/>
            <a:ext cx="2606040" cy="0"/>
          </a:xfrm>
          <a:prstGeom prst="line">
            <a:avLst/>
          </a:prstGeom>
          <a:noFill/>
          <a:ln w="19050">
            <a:solidFill>
              <a:srgbClr val="E7E4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2468880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7E4EF"/>
            </a:solidFill>
            <a:prstDash val="solid"/>
          </a:ln>
          <a:effectLst>
            <a:outerShdw sx="100000" sy="100000" kx="0" ky="0" algn="bl" rotWithShape="0" blurRad="114300" dist="38100" dir="8100000">
              <a:srgbClr val="17151F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36208" y="24688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T-0007 Integration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26480" y="3182112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7E4EF"/>
            </a:solidFill>
            <a:prstDash val="solid"/>
          </a:ln>
          <a:effectLst>
            <a:outerShdw sx="100000" sy="100000" kx="0" ky="0" algn="bl" rotWithShape="0" blurRad="114300" dist="38100" dir="8100000">
              <a:srgbClr val="17151F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36208" y="318211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T-0008 Polish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26480" y="3895344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7E4EF"/>
            </a:solidFill>
            <a:prstDash val="solid"/>
          </a:ln>
          <a:effectLst>
            <a:outerShdw sx="100000" sy="100000" kx="0" ky="0" algn="bl" rotWithShape="0" blurRad="114300" dist="38100" dir="8100000">
              <a:srgbClr val="17151F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36208" y="389534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T-0009 Docs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915400" y="19659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15400" y="2286000"/>
            <a:ext cx="2606040" cy="0"/>
          </a:xfrm>
          <a:prstGeom prst="line">
            <a:avLst/>
          </a:prstGeom>
          <a:noFill/>
          <a:ln w="19050">
            <a:solidFill>
              <a:srgbClr val="E7E4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15400" y="2468880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  <a:effectLst>
            <a:outerShdw sx="100000" sy="100000" kx="0" ky="0" algn="bl" rotWithShape="0" blurRad="114300" dist="38100" dir="8100000">
              <a:srgbClr val="17151F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025128" y="24688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8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T-0002 Research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915400" y="3182112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  <a:effectLst>
            <a:outerShdw sx="100000" sy="100000" kx="0" ky="0" algn="bl" rotWithShape="0" blurRad="114300" dist="38100" dir="8100000">
              <a:srgbClr val="17151F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025128" y="318211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8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T-0003 Spec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915400" y="3895344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  <a:effectLst>
            <a:outerShdw sx="100000" sy="100000" kx="0" ky="0" algn="bl" rotWithShape="0" blurRad="114300" dist="38100" dir="8100000">
              <a:srgbClr val="17151F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025128" y="389534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8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T-0004 Todo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ledger tracks everything — </a:t>
            </a:r>
            <a:pPr indent="0" marL="0">
              <a:buNone/>
            </a:pPr>
            <a:r>
              <a:rPr lang="en-US" sz="160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what you choose to defer (NEXT).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 team of AI agents · not a chat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3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— PARALLEL VS. SEQUENTIAL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71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distinction that does the work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05840" y="2496312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EFEAFF"/>
          </a:solidFill>
          <a:ln w="12700">
            <a:solidFill>
              <a:srgbClr val="5B3DF5"/>
            </a:solidFill>
            <a:prstDash val="solid"/>
          </a:ln>
          <a:effectLst>
            <a:outerShdw sx="100000" sy="100000" kx="0" ky="0" algn="bl" rotWithShape="0" blurRad="114300" dist="38100" dir="8100000">
              <a:srgbClr val="17151F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3118104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EFEAFF"/>
          </a:solidFill>
          <a:ln w="12700">
            <a:solidFill>
              <a:srgbClr val="5B3DF5"/>
            </a:solidFill>
            <a:prstDash val="solid"/>
          </a:ln>
          <a:effectLst>
            <a:outerShdw sx="100000" sy="100000" kx="0" ky="0" algn="bl" rotWithShape="0" blurRad="114300" dist="38100" dir="8100000">
              <a:srgbClr val="17151F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3739896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EFEAFF"/>
          </a:solidFill>
          <a:ln w="12700">
            <a:solidFill>
              <a:srgbClr val="5B3DF5"/>
            </a:solidFill>
            <a:prstDash val="solid"/>
          </a:ln>
          <a:effectLst>
            <a:outerShdw sx="100000" sy="100000" kx="0" ky="0" algn="bl" rotWithShape="0" blurRad="114300" dist="38100" dir="8100000">
              <a:srgbClr val="17151F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3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 ×3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974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9184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91840" y="3108960"/>
            <a:ext cx="1554480" cy="566928"/>
          </a:xfrm>
          <a:prstGeom prst="roundRect">
            <a:avLst>
              <a:gd name="adj" fmla="val 9677"/>
            </a:avLst>
          </a:prstGeom>
          <a:solidFill>
            <a:srgbClr val="5B3DF5"/>
          </a:solidFill>
          <a:ln w="12700">
            <a:solidFill>
              <a:srgbClr val="5B3DF5"/>
            </a:solidFill>
            <a:prstDash val="solid"/>
          </a:ln>
          <a:effectLst>
            <a:outerShdw sx="100000" sy="100000" kx="0" ky="0" algn="bl" rotWithShape="0" blurRad="114300" dist="38100" dir="8100000">
              <a:srgbClr val="17151F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order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21208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Items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12080" y="3108960"/>
            <a:ext cx="1554480" cy="566928"/>
          </a:xfrm>
          <a:prstGeom prst="roundRect">
            <a:avLst>
              <a:gd name="adj" fmla="val 9677"/>
            </a:avLst>
          </a:prstGeom>
          <a:solidFill>
            <a:srgbClr val="5B3DF5"/>
          </a:solidFill>
          <a:ln w="12700">
            <a:solidFill>
              <a:srgbClr val="5B3DF5"/>
            </a:solidFill>
            <a:prstDash val="solid"/>
          </a:ln>
          <a:effectLst>
            <a:outerShdw sx="100000" sy="100000" kx="0" ky="0" algn="bl" rotWithShape="0" blurRad="114300" dist="38100" dir="8100000">
              <a:srgbClr val="17151F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12080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order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808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45236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52360" y="2368296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EFEAFF"/>
          </a:solidFill>
          <a:ln w="12700">
            <a:solidFill>
              <a:srgbClr val="5B3DF5"/>
            </a:solidFill>
            <a:prstDash val="solid"/>
          </a:ln>
          <a:effectLst>
            <a:outerShdw sx="100000" sy="100000" kx="0" ky="0" algn="bl" rotWithShape="0" blurRad="114300" dist="38100" dir="8100000">
              <a:srgbClr val="17151F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52360" y="2898648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EFEAFF"/>
          </a:solidFill>
          <a:ln w="12700">
            <a:solidFill>
              <a:srgbClr val="5B3DF5"/>
            </a:solidFill>
            <a:prstDash val="solid"/>
          </a:ln>
          <a:effectLst>
            <a:outerShdw sx="100000" sy="100000" kx="0" ky="0" algn="bl" rotWithShape="0" blurRad="114300" dist="38100" dir="8100000">
              <a:srgbClr val="17151F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52360" y="342900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EFEAFF"/>
          </a:solidFill>
          <a:ln w="12700">
            <a:solidFill>
              <a:srgbClr val="5B3DF5"/>
            </a:solidFill>
            <a:prstDash val="solid"/>
          </a:ln>
          <a:effectLst>
            <a:outerShdw sx="100000" sy="100000" kx="0" ky="0" algn="bl" rotWithShape="0" blurRad="114300" dist="38100" dir="8100000">
              <a:srgbClr val="17151F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52360" y="3959352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EFEAFF"/>
          </a:solidFill>
          <a:ln w="12700">
            <a:solidFill>
              <a:srgbClr val="5B3DF5"/>
            </a:solidFill>
            <a:prstDash val="solid"/>
          </a:ln>
          <a:effectLst>
            <a:outerShdw sx="100000" sy="100000" kx="0" ky="0" algn="bl" rotWithShape="0" blurRad="114300" dist="38100" dir="8100000">
              <a:srgbClr val="17151F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52360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3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 ×4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73836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738360" y="3108960"/>
            <a:ext cx="1554480" cy="566928"/>
          </a:xfrm>
          <a:prstGeom prst="roundRect">
            <a:avLst>
              <a:gd name="adj" fmla="val 9677"/>
            </a:avLst>
          </a:prstGeom>
          <a:solidFill>
            <a:srgbClr val="5B3DF5"/>
          </a:solidFill>
          <a:ln w="12700">
            <a:solidFill>
              <a:srgbClr val="5B3DF5"/>
            </a:solidFill>
            <a:prstDash val="solid"/>
          </a:ln>
          <a:effectLst>
            <a:outerShdw sx="100000" sy="100000" kx="0" ky="0" algn="bl" rotWithShape="0" blurRad="114300" dist="38100" dir="8100000">
              <a:srgbClr val="17151F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738360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order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2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where independent</a:t>
            </a:r>
            <a:pPr algn="ctr" indent="0" marL="0">
              <a:buNone/>
            </a:pPr>
            <a:r>
              <a:rPr lang="en-US" sz="1700" dirty="0">
                <a:solidFill>
                  <a:srgbClr val="33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sequential where one step needs the last one's output.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 team of AI agents · not a chat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3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— FOUR SURFACES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71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ways to run agents at once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4EF"/>
            </a:solidFill>
            <a:prstDash val="solid"/>
          </a:ln>
          <a:effectLst>
            <a:outerShdw sx="100000" sy="100000" kx="0" ky="0" algn="bl" rotWithShape="0" blurRad="114300" dist="38100" dir="8100000">
              <a:srgbClr val="17151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20240"/>
            <a:ext cx="82296" cy="1783080"/>
          </a:xfrm>
          <a:prstGeom prst="rect">
            <a:avLst/>
          </a:prstGeom>
          <a:solidFill>
            <a:srgbClr val="5B3DF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523744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workers inside one session — own context, return a summary.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2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/agents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92024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4EF"/>
            </a:solidFill>
            <a:prstDash val="solid"/>
          </a:ln>
          <a:effectLst>
            <a:outerShdw sx="100000" sy="100000" kx="0" ky="0" algn="bl" rotWithShape="0" blurRad="114300" dist="38100" dir="8100000">
              <a:srgbClr val="17151F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920240"/>
            <a:ext cx="82296" cy="1783080"/>
          </a:xfrm>
          <a:prstGeom prst="rect">
            <a:avLst/>
          </a:prstGeom>
          <a:solidFill>
            <a:srgbClr val="5B3DF5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1031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agents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46520" y="2523744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full sessions running at once; watch them all on one board.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32461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2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agents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4EF"/>
            </a:solidFill>
            <a:prstDash val="solid"/>
          </a:ln>
          <a:effectLst>
            <a:outerShdw sx="100000" sy="100000" kx="0" ky="0" algn="bl" rotWithShape="0" blurRad="114300" dist="38100" dir="8100000">
              <a:srgbClr val="17151F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931920"/>
            <a:ext cx="82296" cy="1783080"/>
          </a:xfrm>
          <a:prstGeom prst="rect">
            <a:avLst/>
          </a:prstGeom>
          <a:solidFill>
            <a:srgbClr val="5B3DF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148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22960" y="4535424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that message each other and share a task list. (Experimental.)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2578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2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mode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4EF"/>
            </a:solidFill>
            <a:prstDash val="solid"/>
          </a:ln>
          <a:effectLst>
            <a:outerShdw sx="100000" sy="100000" kx="0" ky="0" algn="bl" rotWithShape="0" blurRad="114300" dist="38100" dir="8100000">
              <a:srgbClr val="17151F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3931920"/>
            <a:ext cx="82296" cy="1783080"/>
          </a:xfrm>
          <a:prstGeom prst="rect">
            <a:avLst/>
          </a:prstGeom>
          <a:solidFill>
            <a:srgbClr val="5B3DF5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1148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Worktrees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446520" y="4535424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git checkouts so parallel writers never collide.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52578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2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-w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 team of AI agents · not a chat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3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—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71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is the whole game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476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giant chat — everything piled in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8686800" cy="457200"/>
          </a:xfrm>
          <a:prstGeom prst="roundRect">
            <a:avLst>
              <a:gd name="adj" fmla="val 12000"/>
            </a:avLst>
          </a:prstGeom>
          <a:solidFill>
            <a:srgbClr val="F0EEF6"/>
          </a:solidFill>
          <a:ln w="12700">
            <a:solidFill>
              <a:srgbClr val="E7E4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7991856" cy="457200"/>
          </a:xfrm>
          <a:prstGeom prst="roundRect">
            <a:avLst>
              <a:gd name="adj" fmla="val 12000"/>
            </a:avLst>
          </a:prstGeom>
          <a:solidFill>
            <a:srgbClr val="C0492E"/>
          </a:solidFill>
          <a:ln w="12700">
            <a:solidFill>
              <a:srgbClr val="C04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64040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04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· costly · worse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3192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session — only what this step needs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8686800" cy="457200"/>
          </a:xfrm>
          <a:prstGeom prst="roundRect">
            <a:avLst>
              <a:gd name="adj" fmla="val 12000"/>
            </a:avLst>
          </a:prstGeom>
          <a:solidFill>
            <a:srgbClr val="F0EEF6"/>
          </a:solidFill>
          <a:ln w="12700">
            <a:solidFill>
              <a:srgbClr val="E7E4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703320"/>
            <a:ext cx="2432304" cy="457200"/>
          </a:xfrm>
          <a:prstGeom prst="roundRect">
            <a:avLst>
              <a:gd name="adj" fmla="val 12000"/>
            </a:avLst>
          </a:prstGeom>
          <a:solidFill>
            <a:srgbClr val="1F8A55"/>
          </a:solidFill>
          <a:ln w="12700">
            <a:solidFill>
              <a:srgbClr val="1F8A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64040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8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· cheap · better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9377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4A2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right context at the right step. 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33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lean session isn't just cheaper — it produces better work, because the model isn't wading through clutter every turn.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 team of AI agents · not a chat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3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— PICK YOUR COCKPIT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71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method, different cockpit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118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7E4EF"/>
            </a:solidFill>
            <a:prstDash val="solid"/>
          </a:ln>
          <a:effectLst>
            <a:outerShdw sx="100000" sy="100000" kx="0" ky="0" algn="bl" rotWithShape="0" blurRad="114300" dist="38100" dir="8100000">
              <a:srgbClr val="17151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011680"/>
            <a:ext cx="3611880" cy="640080"/>
          </a:xfrm>
          <a:prstGeom prst="rect">
            <a:avLst/>
          </a:prstGeom>
          <a:solidFill>
            <a:srgbClr val="EFEA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app · Cowork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setup, approachable. A fresh chat per task gets you most of the way.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25112" y="2011680"/>
            <a:ext cx="36118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7E4EF"/>
            </a:solidFill>
            <a:prstDash val="solid"/>
          </a:ln>
          <a:effectLst>
            <a:outerShdw sx="100000" sy="100000" kx="0" ky="0" algn="bl" rotWithShape="0" blurRad="114300" dist="38100" dir="8100000">
              <a:srgbClr val="17151F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25112" y="2011680"/>
            <a:ext cx="3611880" cy="640080"/>
          </a:xfrm>
          <a:prstGeom prst="rect">
            <a:avLst/>
          </a:prstGeom>
          <a:solidFill>
            <a:srgbClr val="EFEAFF"/>
          </a:solidFill>
          <a:ln/>
        </p:spPr>
      </p:sp>
      <p:sp>
        <p:nvSpPr>
          <p:cNvPr id="10" name="Text 8"/>
          <p:cNvSpPr/>
          <p:nvPr/>
        </p:nvSpPr>
        <p:spPr>
          <a:xfrm>
            <a:off x="4507992" y="20116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Codex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53712" y="288036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capable agent CLI. The principles port directly.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01584" y="2011680"/>
            <a:ext cx="36118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5B3DF5"/>
            </a:solidFill>
            <a:prstDash val="solid"/>
          </a:ln>
          <a:effectLst>
            <a:outerShdw sx="100000" sy="100000" kx="0" ky="0" algn="bl" rotWithShape="0" blurRad="114300" dist="38100" dir="8100000">
              <a:srgbClr val="17151F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01584" y="2011680"/>
            <a:ext cx="3611880" cy="640080"/>
          </a:xfrm>
          <a:prstGeom prst="rect">
            <a:avLst/>
          </a:prstGeom>
          <a:solidFill>
            <a:srgbClr val="5B3DF5"/>
          </a:solidFill>
          <a:ln/>
        </p:spPr>
      </p:sp>
      <p:sp>
        <p:nvSpPr>
          <p:cNvPr id="14" name="Text 12"/>
          <p:cNvSpPr/>
          <p:nvPr/>
        </p:nvSpPr>
        <p:spPr>
          <a:xfrm>
            <a:off x="8284464" y="20116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(terminal)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30184" y="288036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dials: status line, custom commands, parallel agents, worktrees.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4A2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what fits you — don't let setup be the reason you never start.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 team of AI agents · not a chat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3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— TO THE TERMINAL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command kicks it off:  /orchestrate T-0001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05840" y="3657600"/>
            <a:ext cx="10149840" cy="0"/>
          </a:xfrm>
          <a:prstGeom prst="line">
            <a:avLst/>
          </a:prstGeom>
          <a:noFill/>
          <a:ln w="25400">
            <a:solidFill>
              <a:srgbClr val="4A2F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3355848"/>
            <a:ext cx="603504" cy="603504"/>
          </a:xfrm>
          <a:prstGeom prst="ellipse">
            <a:avLst/>
          </a:prstGeom>
          <a:solidFill>
            <a:srgbClr val="5B3DF5"/>
          </a:solidFill>
          <a:ln w="25400">
            <a:solidFill>
              <a:srgbClr val="5B3D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33558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3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34056" y="3355848"/>
            <a:ext cx="603504" cy="603504"/>
          </a:xfrm>
          <a:prstGeom prst="ellipse">
            <a:avLst/>
          </a:prstGeom>
          <a:solidFill>
            <a:srgbClr val="17151F"/>
          </a:solidFill>
          <a:ln w="25400">
            <a:solidFill>
              <a:srgbClr val="5B3D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34056" y="33558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21408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21408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3BC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order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64024" y="3355848"/>
            <a:ext cx="603504" cy="603504"/>
          </a:xfrm>
          <a:prstGeom prst="ellipse">
            <a:avLst/>
          </a:prstGeom>
          <a:solidFill>
            <a:srgbClr val="17151F"/>
          </a:solidFill>
          <a:ln w="25400">
            <a:solidFill>
              <a:srgbClr val="5B3D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4024" y="33558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151376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51376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3BC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order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93992" y="3355848"/>
            <a:ext cx="603504" cy="603504"/>
          </a:xfrm>
          <a:prstGeom prst="ellipse">
            <a:avLst/>
          </a:prstGeom>
          <a:solidFill>
            <a:srgbClr val="5B3DF5"/>
          </a:solidFill>
          <a:ln w="25400">
            <a:solidFill>
              <a:srgbClr val="5B3D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93992" y="33558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181344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81344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3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823960" y="3355848"/>
            <a:ext cx="603504" cy="603504"/>
          </a:xfrm>
          <a:prstGeom prst="ellipse">
            <a:avLst/>
          </a:prstGeom>
          <a:solidFill>
            <a:srgbClr val="17151F"/>
          </a:solidFill>
          <a:ln w="25400">
            <a:solidFill>
              <a:srgbClr val="5B3D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23960" y="33558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11312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11312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3BC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order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853928" y="3355848"/>
            <a:ext cx="603504" cy="603504"/>
          </a:xfrm>
          <a:prstGeom prst="ellipse">
            <a:avLst/>
          </a:prstGeom>
          <a:solidFill>
            <a:srgbClr val="17151F"/>
          </a:solidFill>
          <a:ln w="25400">
            <a:solidFill>
              <a:srgbClr val="5B3D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53928" y="33558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24128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24128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3BC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order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3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ledger move. Watch the agents work. The terminal is the show now.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3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moves you can steal on Monday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3D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20574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truth in docs — one source everything traces to.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80720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3D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280720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ledger — Now / In Progress / Next / Done.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55701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3D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80160" y="355701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task, one focused context.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430682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3D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80160" y="430682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Parallelize the independent; sequence the dependent.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50566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3D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280160" y="50566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NOT to automate.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3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is about code. It's about how you direct the work.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3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— TAKE IT HOME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71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Clone it. Point it at any project.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94560"/>
            <a:ext cx="2468880" cy="2468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383280" y="24688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FEAFF"/>
          </a:solidFill>
          <a:ln w="12700">
            <a:solidFill>
              <a:srgbClr val="5B3D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566160" y="24688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2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github.com/FernandoTN/founder-site-starter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383280" y="3383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7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Inside: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/orchestrate skill chain, the TODO.md ledger, and a docs + core-context scaffold — a reusable boilerplate you point at any project, code or not.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2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terminal? </a:t>
            </a:r>
            <a:pPr algn="ctr" indent="0" marL="0">
              <a:buNone/>
            </a:pPr>
            <a:r>
              <a:rPr lang="en-US" sz="1500" dirty="0">
                <a:solidFill>
                  <a:srgbClr val="33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Claude app — a fresh chat per task.    </a:t>
            </a:r>
            <a:pPr algn="ctr" indent="0" marL="0">
              <a:buNone/>
            </a:pPr>
            <a:r>
              <a:rPr lang="en-US" sz="1500" b="1" dirty="0">
                <a:solidFill>
                  <a:srgbClr val="4A2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in one? </a:t>
            </a:r>
            <a:pPr algn="ctr" indent="0" marL="0">
              <a:buNone/>
            </a:pPr>
            <a:r>
              <a:rPr lang="en-US" sz="1500" dirty="0">
                <a:solidFill>
                  <a:srgbClr val="33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in Claude Code.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 team of AI agents · not a chat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5B3DF5"/>
          </a:solidFill>
          <a:ln w="12700">
            <a:solidFill>
              <a:srgbClr val="5B3D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5568" y="5486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4A2FD0"/>
          </a:solidFill>
          <a:ln w="12700">
            <a:solidFill>
              <a:srgbClr val="5B3D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82496" y="5486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4A2FD0"/>
          </a:solidFill>
          <a:ln w="12700">
            <a:solidFill>
              <a:srgbClr val="5B3D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49424" y="5486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4A2FD0"/>
          </a:solidFill>
          <a:ln w="12700">
            <a:solidFill>
              <a:srgbClr val="5B3D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3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— then go point it at </a:t>
            </a:r>
            <a:pPr indent="0" marL="0">
              <a:buNone/>
            </a:pPr>
            <a:r>
              <a:rPr lang="en-US" sz="2200" b="1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project.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Torres — Founder &amp; CEO, Memori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3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github.com/FernandoTN/founder-site-starter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Run a team of AI agents — Stanford workshop</dc:title>
  <dc:subject>PptxGenJS Presentation</dc:subject>
  <dc:creator>Fernando Torres</dc:creator>
  <cp:lastModifiedBy>Fernando Torres</cp:lastModifiedBy>
  <cp:revision>1</cp:revision>
  <dcterms:created xsi:type="dcterms:W3CDTF">2026-06-03T04:48:50Z</dcterms:created>
  <dcterms:modified xsi:type="dcterms:W3CDTF">2026-06-03T04:48:50Z</dcterms:modified>
</cp:coreProperties>
</file>